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Anton" pitchFamily="2" charset="0"/>
      <p:regular r:id="rId12"/>
    </p:embeddedFont>
    <p:embeddedFont>
      <p:font typeface="Fira Sans" panose="020B05030500000200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820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17.svg"/><Relationship Id="rId7" Type="http://schemas.openxmlformats.org/officeDocument/2006/relationships/image" Target="../media/image2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jp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91469"/>
            <a:ext cx="41706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AI Complaint Analyzer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91160"/>
            <a:ext cx="4206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Smart AI-Based Complaint Management &amp; Analysis Platform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925119" y="2925216"/>
            <a:ext cx="4824026" cy="109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Presented By:</a:t>
            </a:r>
            <a:r>
              <a:rPr lang="en-US" sz="1100" dirty="0">
                <a:solidFill>
                  <a:schemeClr val="bg1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Omkar Ittam</a:t>
            </a: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	Sayali </a:t>
            </a:r>
            <a:r>
              <a:rPr lang="en-US" sz="1100" dirty="0" err="1">
                <a:solidFill>
                  <a:schemeClr val="bg1"/>
                </a:solidFill>
              </a:rPr>
              <a:t>Yedur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chemeClr val="bg1"/>
                </a:solidFill>
              </a:rPr>
              <a:t>	Ayaan Mujawar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29D26D-62B1-5034-E224-A25BE38E8028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8359"/>
            <a:ext cx="454669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Problem Statement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75706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Current Challenges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248327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Manual complaint handling creates delays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Difficult categorization without intelligent analysis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Language barriers prevent accessibility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automated tracking system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Poor data management and reporting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075706"/>
            <a:ext cx="21264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Project Goals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49701" y="248327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Automate complaint management workflows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Implement AI-based analysis and categorization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Provide multi-language translation support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Enable faster complaint handling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Improve tracking and administration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E45EA-5BE2-1971-7503-CE31F8FFD1D4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67965"/>
            <a:ext cx="362872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System Overview &amp; Technology Stack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706413"/>
            <a:ext cx="672502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system enables users to submit complaints online. AI analyzes complaint text, translates content, categorizes complaints, and displays them on an intelligent admin dashboard.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452" y="1044922"/>
            <a:ext cx="487263" cy="5847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3688" y="1142330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763688" y="1334765"/>
            <a:ext cx="617078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Submit complaints</a:t>
            </a:r>
            <a:endParaRPr lang="en-US" sz="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452" y="1629668"/>
            <a:ext cx="487263" cy="5847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63688" y="172707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Complaint Form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1763688" y="1919511"/>
            <a:ext cx="617078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Capture details</a:t>
            </a:r>
            <a:endParaRPr lang="en-US" sz="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452" y="2214414"/>
            <a:ext cx="487263" cy="5847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63688" y="231182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AI Analysis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1763688" y="2504256"/>
            <a:ext cx="617078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Process &amp; categorize</a:t>
            </a:r>
            <a:endParaRPr lang="en-US" sz="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9452" y="2799159"/>
            <a:ext cx="487263" cy="5847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63688" y="2896567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Translation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1763688" y="3089002"/>
            <a:ext cx="617078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Multi-language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452" y="3383905"/>
            <a:ext cx="487263" cy="5847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63688" y="348131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1763688" y="3673748"/>
            <a:ext cx="6170786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View analytics</a:t>
            </a:r>
            <a:endParaRPr lang="en-US" sz="750" dirty="0"/>
          </a:p>
        </p:txBody>
      </p:sp>
      <p:sp>
        <p:nvSpPr>
          <p:cNvPr id="19" name="Text 12"/>
          <p:cNvSpPr/>
          <p:nvPr/>
        </p:nvSpPr>
        <p:spPr>
          <a:xfrm>
            <a:off x="1209452" y="4069110"/>
            <a:ext cx="146193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Technologies Used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1209452" y="4412605"/>
            <a:ext cx="3243635" cy="28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HTML5 &amp; CSS3</a:t>
            </a:r>
            <a:endParaRPr lang="en-US" sz="75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4695527" y="4412605"/>
            <a:ext cx="3243635" cy="44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APIs</a:t>
            </a:r>
            <a:endParaRPr lang="en-US" sz="75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Translation API</a:t>
            </a:r>
            <a:endParaRPr lang="en-US" sz="750" dirty="0"/>
          </a:p>
          <a:p>
            <a:pPr marL="342900" indent="-342900" algn="l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Database Storage</a:t>
            </a:r>
            <a:endParaRPr lang="en-US" sz="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B419E4-3CE7-029D-F157-676FF039A62F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13432"/>
            <a:ext cx="2602706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Core Features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980182" y="791617"/>
            <a:ext cx="3553569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1084287" y="895722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161" y="981596"/>
            <a:ext cx="140494" cy="1404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4287" y="128446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AI Complaint Analysis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4287" y="1492969"/>
            <a:ext cx="33453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Intelligent text processing and analysis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10174" y="791617"/>
            <a:ext cx="3553569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9" name="Shape 6"/>
          <p:cNvSpPr/>
          <p:nvPr/>
        </p:nvSpPr>
        <p:spPr>
          <a:xfrm>
            <a:off x="4714280" y="895722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0154" y="981596"/>
            <a:ext cx="140494" cy="1404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14280" y="128446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Smart Categorization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714280" y="1492969"/>
            <a:ext cx="33453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Automatic complaint classification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980182" y="1817936"/>
            <a:ext cx="3553569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14" name="Shape 10"/>
          <p:cNvSpPr/>
          <p:nvPr/>
        </p:nvSpPr>
        <p:spPr>
          <a:xfrm>
            <a:off x="1084287" y="1922041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161" y="2007915"/>
            <a:ext cx="140494" cy="1404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84287" y="231078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Translation System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084287" y="2519288"/>
            <a:ext cx="33453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Multi-language support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610174" y="1817936"/>
            <a:ext cx="3553569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19" name="Shape 14"/>
          <p:cNvSpPr/>
          <p:nvPr/>
        </p:nvSpPr>
        <p:spPr>
          <a:xfrm>
            <a:off x="4714280" y="1922041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0154" y="2007915"/>
            <a:ext cx="140494" cy="14049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14280" y="2310780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OTP Verification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714280" y="2519288"/>
            <a:ext cx="33453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Secure authentication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980182" y="2844254"/>
            <a:ext cx="3553569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24" name="Shape 18"/>
          <p:cNvSpPr/>
          <p:nvPr/>
        </p:nvSpPr>
        <p:spPr>
          <a:xfrm>
            <a:off x="1084287" y="2948360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0161" y="3034233"/>
            <a:ext cx="140494" cy="14049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84287" y="333709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Dashboard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084287" y="3545607"/>
            <a:ext cx="33453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Personalized interface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4610174" y="2844254"/>
            <a:ext cx="3553569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29" name="Shape 22"/>
          <p:cNvSpPr/>
          <p:nvPr/>
        </p:nvSpPr>
        <p:spPr>
          <a:xfrm>
            <a:off x="4714280" y="2948360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0154" y="3034233"/>
            <a:ext cx="140494" cy="14049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714280" y="3337099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714280" y="3545607"/>
            <a:ext cx="3345359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Complete control panel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980182" y="3880098"/>
            <a:ext cx="2343522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34" name="Shape 26"/>
          <p:cNvSpPr/>
          <p:nvPr/>
        </p:nvSpPr>
        <p:spPr>
          <a:xfrm>
            <a:off x="1084287" y="3984203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0161" y="4070077"/>
            <a:ext cx="140494" cy="14049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84287" y="437294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Search &amp; Filtering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084287" y="4581451"/>
            <a:ext cx="21353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Quick complaint retrieval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3400127" y="3880098"/>
            <a:ext cx="2343596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39" name="Shape 30"/>
          <p:cNvSpPr/>
          <p:nvPr/>
        </p:nvSpPr>
        <p:spPr>
          <a:xfrm>
            <a:off x="3504233" y="3984203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90106" y="4070077"/>
            <a:ext cx="140494" cy="14049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504233" y="437294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Complaint Tracking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3504233" y="4581451"/>
            <a:ext cx="213538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status updates</a:t>
            </a:r>
            <a:endParaRPr lang="en-US" sz="800" dirty="0"/>
          </a:p>
        </p:txBody>
      </p:sp>
      <p:sp>
        <p:nvSpPr>
          <p:cNvPr id="43" name="Shape 33"/>
          <p:cNvSpPr/>
          <p:nvPr/>
        </p:nvSpPr>
        <p:spPr>
          <a:xfrm>
            <a:off x="5820147" y="3880098"/>
            <a:ext cx="2343596" cy="949896"/>
          </a:xfrm>
          <a:prstGeom prst="roundRect">
            <a:avLst>
              <a:gd name="adj" fmla="val 1644"/>
            </a:avLst>
          </a:prstGeom>
          <a:solidFill>
            <a:srgbClr val="3E3E3E"/>
          </a:solidFill>
          <a:ln/>
        </p:spPr>
      </p:sp>
      <p:sp>
        <p:nvSpPr>
          <p:cNvPr id="44" name="Shape 34"/>
          <p:cNvSpPr/>
          <p:nvPr/>
        </p:nvSpPr>
        <p:spPr>
          <a:xfrm>
            <a:off x="5924252" y="3984203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FA95AE"/>
          </a:solidFill>
          <a:ln/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0126" y="4070077"/>
            <a:ext cx="140494" cy="14049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924252" y="4372942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Responsive Design</a:t>
            </a:r>
            <a:endParaRPr lang="en-US" sz="1000" dirty="0"/>
          </a:p>
        </p:txBody>
      </p:sp>
      <p:sp>
        <p:nvSpPr>
          <p:cNvPr id="47" name="Text 36"/>
          <p:cNvSpPr/>
          <p:nvPr/>
        </p:nvSpPr>
        <p:spPr>
          <a:xfrm>
            <a:off x="5924252" y="4581451"/>
            <a:ext cx="213538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Cross-device compatibility</a:t>
            </a:r>
            <a:endParaRPr lang="en-US" sz="8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DF7F98-D0A5-C88C-025E-1C4DF4051329}"/>
              </a:ext>
            </a:extLst>
          </p:cNvPr>
          <p:cNvSpPr/>
          <p:nvPr/>
        </p:nvSpPr>
        <p:spPr>
          <a:xfrm>
            <a:off x="7952509" y="4829994"/>
            <a:ext cx="1191491" cy="303088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17525"/>
            <a:ext cx="2752725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Authentication System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657002"/>
            <a:ext cx="263745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Secure Registration, Login &amp; OTP Verification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82526" y="1347564"/>
            <a:ext cx="2096319" cy="99640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5" name="Shape 3"/>
          <p:cNvSpPr/>
          <p:nvPr/>
        </p:nvSpPr>
        <p:spPr>
          <a:xfrm>
            <a:off x="1133029" y="1247924"/>
            <a:ext cx="298996" cy="298996"/>
          </a:xfrm>
          <a:prstGeom prst="roundRect">
            <a:avLst>
              <a:gd name="adj" fmla="val 95570"/>
            </a:avLst>
          </a:prstGeom>
          <a:solidFill>
            <a:srgbClr val="3E3E3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40" y="1322710"/>
            <a:ext cx="149498" cy="1494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2669" y="1616943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Registration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32669" y="1814661"/>
            <a:ext cx="204661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Secure account creation with encrypted data storage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598441" y="1198066"/>
            <a:ext cx="2096393" cy="99640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10" name="Shape 7"/>
          <p:cNvSpPr/>
          <p:nvPr/>
        </p:nvSpPr>
        <p:spPr>
          <a:xfrm>
            <a:off x="3448943" y="1098426"/>
            <a:ext cx="298996" cy="298996"/>
          </a:xfrm>
          <a:prstGeom prst="roundRect">
            <a:avLst>
              <a:gd name="adj" fmla="val 95570"/>
            </a:avLst>
          </a:prstGeom>
          <a:solidFill>
            <a:srgbClr val="3E3E3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3655" y="1173212"/>
            <a:ext cx="149498" cy="1494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8583" y="1467445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Login Authentication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48583" y="1665163"/>
            <a:ext cx="2046684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Protected access with session management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914430" y="1048569"/>
            <a:ext cx="2096393" cy="99640"/>
          </a:xfrm>
          <a:prstGeom prst="roundRect">
            <a:avLst>
              <a:gd name="adj" fmla="val 15006"/>
            </a:avLst>
          </a:prstGeom>
          <a:solidFill>
            <a:srgbClr val="3E3E3E"/>
          </a:solidFill>
          <a:ln/>
        </p:spPr>
      </p:sp>
      <p:sp>
        <p:nvSpPr>
          <p:cNvPr id="15" name="Shape 11"/>
          <p:cNvSpPr/>
          <p:nvPr/>
        </p:nvSpPr>
        <p:spPr>
          <a:xfrm>
            <a:off x="5764932" y="948928"/>
            <a:ext cx="298996" cy="298996"/>
          </a:xfrm>
          <a:prstGeom prst="roundRect">
            <a:avLst>
              <a:gd name="adj" fmla="val 95570"/>
            </a:avLst>
          </a:prstGeom>
          <a:solidFill>
            <a:srgbClr val="3E3E3E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9644" y="1023714"/>
            <a:ext cx="149498" cy="1494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64572" y="131794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OTP Verification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5864572" y="1515666"/>
            <a:ext cx="2046684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Email-based one-time password for enhanced security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1133029" y="4529063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Registration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3487713" y="4529063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Login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5842397" y="4600277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OTP Verification</a:t>
            </a:r>
            <a:endParaRPr lang="en-US" sz="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993008-D676-A690-742F-0B87B6272750}"/>
              </a:ext>
            </a:extLst>
          </p:cNvPr>
          <p:cNvSpPr/>
          <p:nvPr/>
        </p:nvSpPr>
        <p:spPr>
          <a:xfrm>
            <a:off x="653914" y="2343522"/>
            <a:ext cx="2046610" cy="2106737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158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07F0B9-48B3-6E90-AEE3-073D29E9BCDE}"/>
              </a:ext>
            </a:extLst>
          </p:cNvPr>
          <p:cNvSpPr/>
          <p:nvPr/>
        </p:nvSpPr>
        <p:spPr>
          <a:xfrm>
            <a:off x="3196731" y="2317625"/>
            <a:ext cx="1902328" cy="2106737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78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E89B06-03F4-EE54-44E7-81FEF65C77DF}"/>
              </a:ext>
            </a:extLst>
          </p:cNvPr>
          <p:cNvSpPr/>
          <p:nvPr/>
        </p:nvSpPr>
        <p:spPr>
          <a:xfrm>
            <a:off x="5595267" y="2317625"/>
            <a:ext cx="2107554" cy="2106737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E7EB0B-3BE5-4CB6-AA32-A8DA7DA35777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7991" y="294084"/>
            <a:ext cx="2292548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Interface &amp; Dashboard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667991" y="657076"/>
            <a:ext cx="5808018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User-friendly interface for complaint submission, tracking, and status updates with intuitive navigation.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188349" y="4294188"/>
            <a:ext cx="1544379" cy="384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User Interface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44161B-2EB7-DF34-7EEB-C9B77038DC7C}"/>
              </a:ext>
            </a:extLst>
          </p:cNvPr>
          <p:cNvSpPr/>
          <p:nvPr/>
        </p:nvSpPr>
        <p:spPr>
          <a:xfrm>
            <a:off x="1717964" y="1133726"/>
            <a:ext cx="4128151" cy="354493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1D201-9DA8-E999-6310-A739447E3C23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7263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Panel &amp; Complaint Management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2126531" y="487189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17006" y="487189"/>
            <a:ext cx="38100" cy="377726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5" name="Text 3"/>
          <p:cNvSpPr/>
          <p:nvPr/>
        </p:nvSpPr>
        <p:spPr>
          <a:xfrm>
            <a:off x="2235473" y="56755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Secure Admin Login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2235473" y="699492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Protected access with enhanced security protocols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4589711" y="487189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80186" y="487189"/>
            <a:ext cx="38100" cy="377726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9" name="Text 7"/>
          <p:cNvSpPr/>
          <p:nvPr/>
        </p:nvSpPr>
        <p:spPr>
          <a:xfrm>
            <a:off x="4698653" y="56755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View All Complaints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4698653" y="699492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Complete overview of submitted complaints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2126531" y="900336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17006" y="900336"/>
            <a:ext cx="38100" cy="377726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13" name="Text 11"/>
          <p:cNvSpPr/>
          <p:nvPr/>
        </p:nvSpPr>
        <p:spPr>
          <a:xfrm>
            <a:off x="2235473" y="98070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Complaint Analysis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235473" y="1112639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Detailed analytics and reporting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4589711" y="900336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80186" y="900336"/>
            <a:ext cx="38100" cy="377726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17" name="Text 15"/>
          <p:cNvSpPr/>
          <p:nvPr/>
        </p:nvSpPr>
        <p:spPr>
          <a:xfrm>
            <a:off x="4698653" y="98070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Translation Access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698653" y="1112639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Multi-language complaint viewing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2126531" y="1313483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17006" y="1313483"/>
            <a:ext cx="38100" cy="377726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21" name="Text 19"/>
          <p:cNvSpPr/>
          <p:nvPr/>
        </p:nvSpPr>
        <p:spPr>
          <a:xfrm>
            <a:off x="2235473" y="139385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Status Management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235473" y="1525786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Update complaint resolution status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4589711" y="1313483"/>
            <a:ext cx="2427759" cy="377726"/>
          </a:xfrm>
          <a:prstGeom prst="roundRect">
            <a:avLst>
              <a:gd name="adj" fmla="val 12104"/>
            </a:avLst>
          </a:prstGeom>
          <a:solidFill>
            <a:srgbClr val="1F1F1F"/>
          </a:solidFill>
          <a:ln w="9525">
            <a:solidFill>
              <a:srgbClr val="5757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80186" y="1313483"/>
            <a:ext cx="38100" cy="377726"/>
          </a:xfrm>
          <a:prstGeom prst="roundRect">
            <a:avLst>
              <a:gd name="adj" fmla="val 27907"/>
            </a:avLst>
          </a:prstGeom>
          <a:solidFill>
            <a:srgbClr val="FA95AE"/>
          </a:solidFill>
          <a:ln/>
        </p:spPr>
      </p:sp>
      <p:sp>
        <p:nvSpPr>
          <p:cNvPr id="25" name="Text 23"/>
          <p:cNvSpPr/>
          <p:nvPr/>
        </p:nvSpPr>
        <p:spPr>
          <a:xfrm>
            <a:off x="4698653" y="1393850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Search &amp; Filtering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698653" y="1525786"/>
            <a:ext cx="223844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Quick retrieval of specific complaints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2235473" y="448699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Login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4663232" y="495597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Dashboard</a:t>
            </a:r>
            <a:endParaRPr lang="en-US" sz="6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D9E6784-E44E-F553-4016-45B930C3FD60}"/>
              </a:ext>
            </a:extLst>
          </p:cNvPr>
          <p:cNvSpPr/>
          <p:nvPr/>
        </p:nvSpPr>
        <p:spPr>
          <a:xfrm>
            <a:off x="1382168" y="2192086"/>
            <a:ext cx="2107554" cy="2106737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5A0BE-CBAB-9E3D-1E16-B5F0D05E3415}"/>
              </a:ext>
            </a:extLst>
          </p:cNvPr>
          <p:cNvSpPr/>
          <p:nvPr/>
        </p:nvSpPr>
        <p:spPr>
          <a:xfrm>
            <a:off x="4530850" y="2192086"/>
            <a:ext cx="4038186" cy="210673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2290B8-5D9F-C0AD-0875-6A5D0927ABBE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0838" y="258366"/>
            <a:ext cx="276091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System Architecture &amp; Advantages</a:t>
            </a:r>
            <a:endParaRPr lang="en-US" sz="1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38" y="597173"/>
            <a:ext cx="239167" cy="714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4802" y="676870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Frontend Interface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2104802" y="828377"/>
            <a:ext cx="5218361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User and admin interfaces</a:t>
            </a:r>
            <a:endParaRPr lang="en-US" sz="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421" y="1120378"/>
            <a:ext cx="239167" cy="714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24385" y="120007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Authentication Layer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2224385" y="1351583"/>
            <a:ext cx="509877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Secure user verification</a:t>
            </a:r>
            <a:endParaRPr lang="en-US" sz="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004" y="1643583"/>
            <a:ext cx="239167" cy="714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43969" y="1723281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Complaint Processing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2343969" y="1874788"/>
            <a:ext cx="497919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validation and storage</a:t>
            </a:r>
            <a:endParaRPr lang="en-US" sz="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62" y="2166789"/>
            <a:ext cx="239167" cy="714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463626" y="2246486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AI Analysis Engine</a:t>
            </a:r>
            <a:endParaRPr lang="en-US" sz="750" dirty="0"/>
          </a:p>
        </p:txBody>
      </p:sp>
      <p:sp>
        <p:nvSpPr>
          <p:cNvPr id="14" name="Text 8"/>
          <p:cNvSpPr/>
          <p:nvPr/>
        </p:nvSpPr>
        <p:spPr>
          <a:xfrm>
            <a:off x="2463626" y="2397993"/>
            <a:ext cx="4859536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Text processing and categorization</a:t>
            </a:r>
            <a:endParaRPr lang="en-US" sz="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004" y="2689994"/>
            <a:ext cx="239167" cy="7143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343969" y="2769691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Translation Module</a:t>
            </a:r>
            <a:endParaRPr lang="en-US" sz="750" dirty="0"/>
          </a:p>
        </p:txBody>
      </p:sp>
      <p:sp>
        <p:nvSpPr>
          <p:cNvPr id="17" name="Text 10"/>
          <p:cNvSpPr/>
          <p:nvPr/>
        </p:nvSpPr>
        <p:spPr>
          <a:xfrm>
            <a:off x="2343969" y="2921198"/>
            <a:ext cx="4979194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Multi-language conversion</a:t>
            </a:r>
            <a:endParaRPr lang="en-US" sz="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421" y="3213199"/>
            <a:ext cx="239167" cy="7143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224385" y="3292897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Database Storage</a:t>
            </a:r>
            <a:endParaRPr lang="en-US" sz="750" dirty="0"/>
          </a:p>
        </p:txBody>
      </p:sp>
      <p:sp>
        <p:nvSpPr>
          <p:cNvPr id="20" name="Text 12"/>
          <p:cNvSpPr/>
          <p:nvPr/>
        </p:nvSpPr>
        <p:spPr>
          <a:xfrm>
            <a:off x="2224385" y="3444404"/>
            <a:ext cx="509877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Persistent data management</a:t>
            </a:r>
            <a:endParaRPr lang="en-US" sz="6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838" y="3736404"/>
            <a:ext cx="239167" cy="7143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2104802" y="3816102"/>
            <a:ext cx="996776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Admin Dashboard</a:t>
            </a:r>
            <a:endParaRPr lang="en-US" sz="750" dirty="0"/>
          </a:p>
        </p:txBody>
      </p:sp>
      <p:sp>
        <p:nvSpPr>
          <p:cNvPr id="23" name="Text 14"/>
          <p:cNvSpPr/>
          <p:nvPr/>
        </p:nvSpPr>
        <p:spPr>
          <a:xfrm>
            <a:off x="2104802" y="3967609"/>
            <a:ext cx="5218361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Analytics and reporting</a:t>
            </a:r>
            <a:endParaRPr lang="en-US" sz="600" dirty="0"/>
          </a:p>
        </p:txBody>
      </p:sp>
      <p:sp>
        <p:nvSpPr>
          <p:cNvPr id="24" name="Text 15"/>
          <p:cNvSpPr/>
          <p:nvPr/>
        </p:nvSpPr>
        <p:spPr>
          <a:xfrm>
            <a:off x="1820838" y="4282083"/>
            <a:ext cx="1196132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Key Advantages</a:t>
            </a:r>
            <a:endParaRPr lang="en-US" sz="900" dirty="0"/>
          </a:p>
        </p:txBody>
      </p:sp>
      <p:sp>
        <p:nvSpPr>
          <p:cNvPr id="25" name="Text 16"/>
          <p:cNvSpPr/>
          <p:nvPr/>
        </p:nvSpPr>
        <p:spPr>
          <a:xfrm>
            <a:off x="1820838" y="4539109"/>
            <a:ext cx="2653903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750"/>
              </a:lnSpc>
              <a:buSzPct val="100000"/>
              <a:buChar char="•"/>
            </a:pPr>
            <a:r>
              <a:rPr lang="en-US" sz="6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Time Savings</a:t>
            </a: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Automated workflows reduce manual processing</a:t>
            </a:r>
            <a:endParaRPr lang="en-US" sz="600" dirty="0"/>
          </a:p>
          <a:p>
            <a:pPr marL="342900" indent="-342900" algn="l">
              <a:lnSpc>
                <a:spcPts val="750"/>
              </a:lnSpc>
              <a:buSzPct val="100000"/>
              <a:buChar char="•"/>
            </a:pPr>
            <a:r>
              <a:rPr lang="en-US" sz="6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Smart Automation</a:t>
            </a: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AI handles categorization and prioritization</a:t>
            </a:r>
            <a:endParaRPr lang="en-US" sz="600" dirty="0"/>
          </a:p>
          <a:p>
            <a:pPr marL="342900" indent="-342900" algn="l">
              <a:lnSpc>
                <a:spcPts val="750"/>
              </a:lnSpc>
              <a:buSzPct val="100000"/>
              <a:buChar char="•"/>
            </a:pPr>
            <a:r>
              <a:rPr lang="en-US" sz="6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Better Management</a:t>
            </a: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Centralized dashboard for oversight</a:t>
            </a:r>
            <a:endParaRPr lang="en-US" sz="600" dirty="0"/>
          </a:p>
        </p:txBody>
      </p:sp>
      <p:sp>
        <p:nvSpPr>
          <p:cNvPr id="26" name="Text 17"/>
          <p:cNvSpPr/>
          <p:nvPr/>
        </p:nvSpPr>
        <p:spPr>
          <a:xfrm>
            <a:off x="4674022" y="4539109"/>
            <a:ext cx="2653903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750"/>
              </a:lnSpc>
              <a:buSzPct val="100000"/>
              <a:buChar char="•"/>
            </a:pPr>
            <a:r>
              <a:rPr lang="en-US" sz="6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Faster Resolution</a:t>
            </a: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Streamlined complaint handling</a:t>
            </a:r>
            <a:endParaRPr lang="en-US" sz="600" dirty="0"/>
          </a:p>
          <a:p>
            <a:pPr marL="342900" indent="-342900" algn="l">
              <a:lnSpc>
                <a:spcPts val="750"/>
              </a:lnSpc>
              <a:buSzPct val="100000"/>
              <a:buChar char="•"/>
            </a:pPr>
            <a:r>
              <a:rPr lang="en-US" sz="6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Multi-Language Support</a:t>
            </a: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Breaks language barriers</a:t>
            </a:r>
            <a:endParaRPr lang="en-US" sz="600" dirty="0"/>
          </a:p>
          <a:p>
            <a:pPr marL="342900" indent="-342900" algn="l">
              <a:lnSpc>
                <a:spcPts val="750"/>
              </a:lnSpc>
              <a:buSzPct val="100000"/>
              <a:buChar char="•"/>
            </a:pPr>
            <a:r>
              <a:rPr lang="en-US" sz="600" b="1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Reduced Manual Work</a:t>
            </a:r>
            <a:r>
              <a:rPr lang="en-US" sz="60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Eliminates repetitive tasks</a:t>
            </a:r>
            <a:endParaRPr lang="en-US" sz="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15AE71-6F10-9B19-40DD-1518A306E212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18430"/>
            <a:ext cx="370470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Future Scope &amp; 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97918"/>
            <a:ext cx="2093268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8379" y="1596926"/>
            <a:ext cx="3913436" cy="1299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Mobile application for iOS and Android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Voice-based complaint submission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Cloud infrastructure integration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AI sentiment analysis for emotion detection</a:t>
            </a:r>
            <a:endParaRPr lang="en-US" sz="1050" dirty="0"/>
          </a:p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Real-time notifications via email and push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6947" y="1197918"/>
            <a:ext cx="2093268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46947" y="1596926"/>
            <a:ext cx="3913436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AI Complaint Analyzer System revolutionizes complaint management through AI automation, translation support, secure authentication, and intelligent administration. The system makes complaint processing faster, smarter, and more efficient.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8379" y="3133874"/>
            <a:ext cx="8167241" cy="10418"/>
          </a:xfrm>
          <a:prstGeom prst="rect">
            <a:avLst/>
          </a:prstGeom>
          <a:solidFill>
            <a:srgbClr val="E0D6DE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88379" y="3385170"/>
            <a:ext cx="6977583" cy="872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50"/>
              </a:lnSpc>
              <a:buNone/>
            </a:pPr>
            <a:r>
              <a:rPr lang="en-US" sz="5450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Thank You</a:t>
            </a:r>
            <a:endParaRPr lang="en-US" sz="5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AC88EB-2C72-0125-8E08-D952D12BE2CC}"/>
              </a:ext>
            </a:extLst>
          </p:cNvPr>
          <p:cNvSpPr/>
          <p:nvPr/>
        </p:nvSpPr>
        <p:spPr>
          <a:xfrm>
            <a:off x="7952509" y="4717473"/>
            <a:ext cx="1191491" cy="415609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459</Words>
  <Application>Microsoft Office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Anton</vt:lpstr>
      <vt:lpstr>Fira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Omkar Ittam</dc:creator>
  <cp:lastModifiedBy>Omkar Ittam</cp:lastModifiedBy>
  <cp:revision>2</cp:revision>
  <dcterms:created xsi:type="dcterms:W3CDTF">2026-05-07T15:36:02Z</dcterms:created>
  <dcterms:modified xsi:type="dcterms:W3CDTF">2026-05-07T15:48:53Z</dcterms:modified>
</cp:coreProperties>
</file>